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C主责页码：1、2、4、5、6、12、13、16、17、18、19、20。本单页用于第12页，兼顾第16页工程验收。原件SHA256 c739d2172d041fa758c164d166535ea4c2b0de2a628b17c55ef787d875333a68。</a:t>
            </a:r>
          </a:p>
          <a:p>
            <a:r>
              <a:t>来源：product-goal-original-features-and-team-dispatch-2026-10-26.md；team-dispatch-optimized-by-roles-and-provincial-prize-gates-2026-10-26.md；team-total-dispatch-and-provincial-first-prize-acceptance-2026-10-25.md。</a:t>
            </a:r>
          </a:p>
          <a:p>
            <a:r>
              <a:t>B固定分支59a1eaff7aa3fa61135c021f108a4d6cb9216f35，远程41项单测/HTTP测试通过。完整回归结果另见验收记录。模型及角色事件为控制夹具，不能代表LIVE模型、人类执行或独立内容复核。executor_ids是项目内声明记录，不是身份认证。试做/学习任务的证据核对与正式成果复核分开；自评拒收门针对正式成果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phucmanh146-dot/shangan-ya/tree/captain/independent-review-acceptance-20261027" TargetMode="Externa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3CE3DB"/>
                </a:solidFill>
                <a:latin typeface="Microsoft YaHei"/>
              </a:rPr>
              <a:t>SHANGANYA  /  CAPTAIN C  /  ENGINEERING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1F6FF"/>
                </a:solidFill>
                <a:latin typeface="Microsoft YaHei"/>
              </a:rPr>
              <a:t>把“提交了”与“验收通过”分开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A9B9D4"/>
                </a:solidFill>
                <a:latin typeface="Microsoft YaHei"/>
              </a:rPr>
              <a:t>C 负责：工程集成 · 版本保护 · 任务状态机 · 端到端证据   |   20页框架第12页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47088"/>
            <a:ext cx="1755648" cy="585216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1F6FF"/>
                </a:solidFill>
                <a:latin typeface="Microsoft YaHei"/>
              </a:rPr>
              <a:t>V1 原件 / SHA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5416" y="2002536"/>
            <a:ext cx="164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E3DB"/>
                </a:solidFill>
                <a:latin typeface="Microsoft YaHe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1847088"/>
            <a:ext cx="1755648" cy="585216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20116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1F6FF"/>
                </a:solidFill>
                <a:latin typeface="Microsoft YaHei"/>
              </a:rPr>
              <a:t>A 证据诊断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002536"/>
            <a:ext cx="164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E3DB"/>
                </a:solidFill>
                <a:latin typeface="Microsoft YaHe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1847088"/>
            <a:ext cx="1755648" cy="585216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20116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1F6FF"/>
                </a:solidFill>
                <a:latin typeface="Microsoft YaHei"/>
              </a:rPr>
              <a:t>B 行动卡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002536"/>
            <a:ext cx="164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E3DB"/>
                </a:solidFill>
                <a:latin typeface="Microsoft YaHe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847088"/>
            <a:ext cx="1755648" cy="585216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20116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1F6FF"/>
                </a:solidFill>
                <a:latin typeface="Microsoft YaHei"/>
              </a:rPr>
              <a:t>提交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2002536"/>
            <a:ext cx="164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E3DB"/>
                </a:solidFill>
                <a:latin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1847088"/>
            <a:ext cx="1755648" cy="585216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7" y="20116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CE3DB"/>
                </a:solidFill>
                <a:latin typeface="Microsoft YaHei"/>
              </a:rPr>
              <a:t>待独立复核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3224" y="2002536"/>
            <a:ext cx="164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E3DB"/>
                </a:solidFill>
                <a:latin typeface="Microsoft YaHe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47088"/>
            <a:ext cx="1755648" cy="585216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0116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1F6FF"/>
                </a:solidFill>
                <a:latin typeface="Microsoft YaHei"/>
              </a:rPr>
              <a:t>确认后完成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697480"/>
            <a:ext cx="3639312" cy="2852928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CE3DB"/>
                </a:solidFill>
                <a:latin typeface="Microsoft YaHei"/>
              </a:rPr>
              <a:t>01  已有工程基础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2697480"/>
            <a:ext cx="3639312" cy="2852928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2880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B5EE78"/>
                </a:solidFill>
                <a:latin typeface="Microsoft YaHei"/>
              </a:rPr>
              <a:t>02  本轮补齐的门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6" y="2697480"/>
            <a:ext cx="3639312" cy="2852928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2880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BB71"/>
                </a:solidFill>
                <a:latin typeface="Microsoft YaHei"/>
              </a:rPr>
              <a:t>03  放行仍需证据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3456432"/>
            <a:ext cx="318211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V1/V2 字节与引用校验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expected_version 拒绝旧写入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pending_review 与完成保护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B 原分支：41 项测试通过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456432"/>
            <a:ext cx="318211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保存实际执行者与参与人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回执 / 确认均拒绝自评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无非执行成员先阻断调用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5EE78"/>
                </a:solidFill>
                <a:latin typeface="Segoe UI Symbol"/>
              </a:rPr>
              <a:t>✓ </a:t>
            </a:r>
            <a:r>
              <a:rPr sz="1300" b="0">
                <a:solidFill>
                  <a:srgbClr val="F1F6FF"/>
                </a:solidFill>
                <a:latin typeface="Microsoft YaHei"/>
              </a:rPr>
              <a:t>模型回执不等于人工确认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56432"/>
            <a:ext cx="318211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1F6FF"/>
                </a:solidFill>
                <a:latin typeface="Microsoft YaHei"/>
              </a:rPr>
              <a:t>[ ] A 独立代码 / 来源支持性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1F6FF"/>
                </a:solidFill>
                <a:latin typeface="Microsoft YaHei"/>
              </a:rPr>
              <a:t>[ ] 真人 V2 + 独立内容复核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1F6FF"/>
                </a:solidFill>
                <a:latin typeface="Microsoft YaHei"/>
              </a:rPr>
              <a:t>[ ] LIVE 模型与两个真实场景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1F6FF"/>
                </a:solidFill>
                <a:latin typeface="Microsoft YaHei"/>
              </a:rPr>
              <a:t>[ ] 5–8 人同条件效果对照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FFBB71"/>
                </a:solidFill>
                <a:latin typeface="Microsoft YaHei"/>
              </a:rPr>
              <a:t>证据边界：工程夹具 ≠ 真人闭环；成员编号分离 ≠ 身份认证。未测内容保持 NOT_RUN / BLOCKED。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19088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A9B9D4"/>
                </a:solidFill>
                <a:latin typeface="Microsoft YaHei"/>
              </a:rPr>
              <a:t>来源：20页分工DOCX（2026-10-26）＋ 三份仓库调度文档；核验 2026-10-27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4008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3CE3DB"/>
                </a:solidFill>
                <a:latin typeface="Microsoft YaHei"/>
                <a:hlinkClick r:id="rId2"/>
              </a:rPr>
              <a:t>点击查看代码 / 测试与进度清单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